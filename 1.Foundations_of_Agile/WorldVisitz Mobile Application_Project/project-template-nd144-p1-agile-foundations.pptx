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7515110cb_1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57515110cb_1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63c535a6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63c535a6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63c535a6a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63c535a6a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1d3f39df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51d3f39df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1d3f39df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1d3f39df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51d3f39df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51d3f39df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1d3f39df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1d3f39df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51d3f39df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51d3f39df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51d3f39df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51d3f39df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51d3f39d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51d3f39d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51d3f39df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51d3f39df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7535" l="0" r="7800" t="0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57200" y="2195513"/>
            <a:ext cx="50388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67" name="Google Shape;67;p16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with Subtitle">
  <p:cSld name="Segue with Sub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457200" y="2633663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with Subtitle Light">
  <p:cSld name="Segue with Subtitle Light">
    <p:bg>
      <p:bgPr>
        <a:solidFill>
          <a:srgbClr val="02B3E4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457200" y="2633663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Light">
  <p:cSld name="Segue Light">
    <p:bg>
      <p:bgPr>
        <a:solidFill>
          <a:srgbClr val="02B3E4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57200" y="667978"/>
            <a:ext cx="8229600" cy="266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1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609600" y="3419475"/>
            <a:ext cx="80772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">
  <p:cSld name="Title with Content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3" type="body"/>
          </p:nvPr>
        </p:nvSpPr>
        <p:spPr>
          <a:xfrm>
            <a:off x="457200" y="17145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300"/>
              <a:buFont typeface="Open Sans"/>
              <a:buChar char="–"/>
              <a:defRPr b="0" i="0" sz="1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&amp; Image">
  <p:cSld name="Title with Content &amp; Image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457200" y="912875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457200" y="304800"/>
            <a:ext cx="82296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3" type="body"/>
          </p:nvPr>
        </p:nvSpPr>
        <p:spPr>
          <a:xfrm>
            <a:off x="457200" y="1714500"/>
            <a:ext cx="40251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Open Sans"/>
              <a:buChar char="•"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300"/>
              <a:buFont typeface="Open Sans"/>
              <a:buChar char="–"/>
              <a:defRPr b="0" i="0" sz="1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95" name="Google Shape;95;p22"/>
          <p:cNvSpPr/>
          <p:nvPr>
            <p:ph idx="4" type="pic"/>
          </p:nvPr>
        </p:nvSpPr>
        <p:spPr>
          <a:xfrm>
            <a:off x="4662488" y="1714500"/>
            <a:ext cx="4024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533400" lvl="5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711200" lvl="6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889000" lvl="7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1066800" lvl="8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">
  <p:cSld name="Image">
    <p:bg>
      <p:bgPr>
        <a:solidFill>
          <a:srgbClr val="2D3D4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533400" lvl="5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711200" lvl="6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889000" lvl="7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1066800" lvl="8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">
  <p:cSld name="Dem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4"/>
          <p:cNvPicPr preferRelativeResize="0"/>
          <p:nvPr/>
        </p:nvPicPr>
        <p:blipFill rotWithShape="1">
          <a:blip r:embed="rId2">
            <a:alphaModFix/>
          </a:blip>
          <a:srcRect b="7535" l="0" r="7800" t="0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 Dark">
  <p:cSld name="Logo A Dar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05" name="Google Shape;105;p25"/>
          <p:cNvSpPr/>
          <p:nvPr/>
        </p:nvSpPr>
        <p:spPr>
          <a:xfrm>
            <a:off x="3796401" y="3514398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06" name="Google Shape;10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85828" y="1370725"/>
            <a:ext cx="2172300" cy="19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 Light">
  <p:cSld name="Logo A Light">
    <p:bg>
      <p:bgPr>
        <a:solidFill>
          <a:srgbClr val="02B3E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10" name="Google Shape;110;p26"/>
          <p:cNvSpPr/>
          <p:nvPr/>
        </p:nvSpPr>
        <p:spPr>
          <a:xfrm>
            <a:off x="3796401" y="3514725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11" name="Google Shape;1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85828" y="1370725"/>
            <a:ext cx="2172300" cy="19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B Dark">
  <p:cSld name="Logo B Dar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15" name="Google Shape;115;p27"/>
          <p:cNvSpPr/>
          <p:nvPr/>
        </p:nvSpPr>
        <p:spPr>
          <a:xfrm>
            <a:off x="3796401" y="3048793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16" name="Google Shape;11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0679" y="2221260"/>
            <a:ext cx="41433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B Light">
  <p:cSld name="Logo B Light">
    <p:bg>
      <p:bgPr>
        <a:solidFill>
          <a:srgbClr val="02B3E4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20" name="Google Shape;120;p28"/>
          <p:cNvSpPr/>
          <p:nvPr/>
        </p:nvSpPr>
        <p:spPr>
          <a:xfrm>
            <a:off x="3796401" y="3048793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21" name="Google Shape;1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0313" y="2221260"/>
            <a:ext cx="41433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D4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14363" y="2662238"/>
            <a:ext cx="79152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eCyr2eKYK7CyHtrJ6LvnIDVFubpo7SRewifzeZcbKtE/edit?usp=sharing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4200"/>
              <a:t>WorldVisitz Mobile Application Agile Delivery Launch</a:t>
            </a:r>
            <a:endParaRPr sz="4200"/>
          </a:p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457200" y="2195525"/>
            <a:ext cx="59007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/>
              <a:t>Agile Foundations - Presentation for the Leadership Team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Presented by: [Your Name]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500"/>
          </a:p>
        </p:txBody>
      </p:sp>
      <p:sp>
        <p:nvSpPr>
          <p:cNvPr id="131" name="Google Shape;131;p30"/>
          <p:cNvSpPr txBox="1"/>
          <p:nvPr>
            <p:ph idx="4294967295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2019 Udacity.  All rights reserved.</a:t>
            </a:r>
            <a:endParaRPr sz="50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How to use this Template</a:t>
            </a:r>
            <a:endParaRPr sz="2800"/>
          </a:p>
        </p:txBody>
      </p:sp>
      <p:sp>
        <p:nvSpPr>
          <p:cNvPr id="137" name="Google Shape;137;p31"/>
          <p:cNvSpPr txBox="1"/>
          <p:nvPr>
            <p:ph idx="1" type="body"/>
          </p:nvPr>
        </p:nvSpPr>
        <p:spPr>
          <a:xfrm>
            <a:off x="311700" y="847675"/>
            <a:ext cx="8520600" cy="319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Make a copy of this Google Slide deck (</a:t>
            </a:r>
            <a:r>
              <a:rPr lang="en" sz="1200">
                <a:solidFill>
                  <a:srgbClr val="0097A7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Drive Directions</a:t>
            </a:r>
            <a:r>
              <a:rPr lang="en" sz="1200">
                <a:solidFill>
                  <a:srgbClr val="2D3D4A"/>
                </a:solidFill>
              </a:rPr>
              <a:t>).</a:t>
            </a:r>
            <a:endParaRPr sz="1200">
              <a:solidFill>
                <a:srgbClr val="2D3D4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We have provided these slides as a guide to ensure that you submit all the required components to successfully complete your project. </a:t>
            </a:r>
            <a:endParaRPr sz="1200">
              <a:solidFill>
                <a:srgbClr val="2D3D4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When presenting your project, please only think of this as a guide. We encouraged you to use creative freedom when making changes as long as the required information is present. </a:t>
            </a:r>
            <a:endParaRPr sz="1200">
              <a:solidFill>
                <a:srgbClr val="2D3D4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Don’t forget to delete this and all of the other reference slides before you submit your project.</a:t>
            </a:r>
            <a:endParaRPr sz="1200">
              <a:solidFill>
                <a:srgbClr val="2D3D4A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138" name="Google Shape;138;p31"/>
          <p:cNvPicPr preferRelativeResize="0"/>
          <p:nvPr/>
        </p:nvPicPr>
        <p:blipFill rotWithShape="1">
          <a:blip r:embed="rId4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type="title"/>
          </p:nvPr>
        </p:nvSpPr>
        <p:spPr>
          <a:xfrm>
            <a:off x="457200" y="1876350"/>
            <a:ext cx="8229600" cy="1390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Part 1: How WorldVisitz Can Benefit From Agile </a:t>
            </a:r>
            <a:endParaRPr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a description of the Agile Manifesto and why it is important to follow it</a:t>
            </a:r>
            <a:endParaRPr/>
          </a:p>
        </p:txBody>
      </p:sp>
      <p:sp>
        <p:nvSpPr>
          <p:cNvPr id="149" name="Google Shape;149;p33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3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Agile?</a:t>
            </a:r>
            <a:endParaRPr/>
          </a:p>
        </p:txBody>
      </p:sp>
      <p:sp>
        <p:nvSpPr>
          <p:cNvPr id="151" name="Google Shape;151;p33"/>
          <p:cNvSpPr txBox="1"/>
          <p:nvPr>
            <p:ph idx="3" type="body"/>
          </p:nvPr>
        </p:nvSpPr>
        <p:spPr>
          <a:xfrm>
            <a:off x="457200" y="1558037"/>
            <a:ext cx="8229600" cy="30156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33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the 12 principles of the agile manifesto and at least two reasons are given for following the Agile Manifesto. </a:t>
            </a:r>
            <a:endParaRPr/>
          </a:p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4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Agile manifesto?</a:t>
            </a:r>
            <a:endParaRPr/>
          </a:p>
        </p:txBody>
      </p:sp>
      <p:sp>
        <p:nvSpPr>
          <p:cNvPr id="160" name="Google Shape;160;p34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34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457200" y="14476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the key differences between the two of them</a:t>
            </a:r>
            <a:endParaRPr/>
          </a:p>
        </p:txBody>
      </p:sp>
      <p:sp>
        <p:nvSpPr>
          <p:cNvPr id="167" name="Google Shape;167;p35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5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differences between Agile and Waterfall</a:t>
            </a:r>
            <a:endParaRPr/>
          </a:p>
        </p:txBody>
      </p:sp>
      <p:sp>
        <p:nvSpPr>
          <p:cNvPr id="169" name="Google Shape;169;p35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35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idx="1" type="body"/>
          </p:nvPr>
        </p:nvSpPr>
        <p:spPr>
          <a:xfrm>
            <a:off x="457200" y="14476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argument should explain: (i) why Agile is a more effective solution for WorldVisitz, and (ii) incorporate at least two Agile principles</a:t>
            </a:r>
            <a:endParaRPr/>
          </a:p>
        </p:txBody>
      </p:sp>
      <p:sp>
        <p:nvSpPr>
          <p:cNvPr id="176" name="Google Shape;176;p36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6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benefits of Business Agility to WorldVisitz</a:t>
            </a:r>
            <a:endParaRPr/>
          </a:p>
        </p:txBody>
      </p:sp>
      <p:sp>
        <p:nvSpPr>
          <p:cNvPr id="178" name="Google Shape;178;p36"/>
          <p:cNvSpPr txBox="1"/>
          <p:nvPr>
            <p:ph idx="3" type="body"/>
          </p:nvPr>
        </p:nvSpPr>
        <p:spPr>
          <a:xfrm>
            <a:off x="457200" y="2083238"/>
            <a:ext cx="8229600" cy="24903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6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idx="1" type="body"/>
          </p:nvPr>
        </p:nvSpPr>
        <p:spPr>
          <a:xfrm>
            <a:off x="457200" y="14476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argument should explain: (i) why Agile is a more effective solution for WorldVisitz, and (ii) incorporate at least two Agile principles</a:t>
            </a:r>
            <a:endParaRPr/>
          </a:p>
        </p:txBody>
      </p:sp>
      <p:sp>
        <p:nvSpPr>
          <p:cNvPr id="185" name="Google Shape;185;p37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7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benefits of Business Agility to WorldVisitz</a:t>
            </a:r>
            <a:endParaRPr/>
          </a:p>
        </p:txBody>
      </p:sp>
      <p:sp>
        <p:nvSpPr>
          <p:cNvPr id="187" name="Google Shape;187;p37"/>
          <p:cNvSpPr txBox="1"/>
          <p:nvPr>
            <p:ph idx="3" type="body"/>
          </p:nvPr>
        </p:nvSpPr>
        <p:spPr>
          <a:xfrm>
            <a:off x="457200" y="2083238"/>
            <a:ext cx="8229600" cy="24903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7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a comparison of each of the three frameworks (Scrum, Kanban, XP)</a:t>
            </a:r>
            <a:endParaRPr/>
          </a:p>
        </p:txBody>
      </p:sp>
      <p:sp>
        <p:nvSpPr>
          <p:cNvPr id="194" name="Google Shape;194;p38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8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Agile Umbrella</a:t>
            </a:r>
            <a:endParaRPr/>
          </a:p>
        </p:txBody>
      </p:sp>
      <p:sp>
        <p:nvSpPr>
          <p:cNvPr id="196" name="Google Shape;196;p38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8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457200" y="1876350"/>
            <a:ext cx="8229600" cy="1390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Part 2: The Optimal Agile Framework for WorldVisitz</a:t>
            </a:r>
            <a:endParaRPr sz="4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>
            <p:ph idx="1" type="body"/>
          </p:nvPr>
        </p:nvSpPr>
        <p:spPr>
          <a:xfrm>
            <a:off x="457200" y="1371447"/>
            <a:ext cx="8229600" cy="1113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"/>
              <a:t>describes the key features of all three frameworks and the differences between them &amp; recommends a specific framework for WorldVIsitz</a:t>
            </a:r>
            <a:endParaRPr/>
          </a:p>
          <a:p>
            <a:pPr indent="-260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"/>
              <a:t>The recommendations should:</a:t>
            </a:r>
            <a:endParaRPr/>
          </a:p>
          <a:p>
            <a:pPr indent="-260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Char char="○"/>
            </a:pPr>
            <a:r>
              <a:rPr lang="en">
                <a:solidFill>
                  <a:srgbClr val="02B3E4"/>
                </a:solidFill>
              </a:rPr>
              <a:t>identify and describe at least three specific business challenges is WorldVisitz is facing</a:t>
            </a:r>
            <a:endParaRPr>
              <a:solidFill>
                <a:srgbClr val="02B3E4"/>
              </a:solidFill>
            </a:endParaRPr>
          </a:p>
          <a:p>
            <a:pPr indent="-260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Char char="○"/>
            </a:pPr>
            <a:r>
              <a:rPr lang="en">
                <a:solidFill>
                  <a:srgbClr val="02B3E4"/>
                </a:solidFill>
              </a:rPr>
              <a:t>explain how the specific Agile framework can be used to solve the identified problems</a:t>
            </a:r>
            <a:endParaRPr/>
          </a:p>
        </p:txBody>
      </p:sp>
      <p:sp>
        <p:nvSpPr>
          <p:cNvPr id="208" name="Google Shape;208;p40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0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ecommendations and justifications for WorldVisitz</a:t>
            </a:r>
            <a:endParaRPr/>
          </a:p>
        </p:txBody>
      </p:sp>
      <p:sp>
        <p:nvSpPr>
          <p:cNvPr id="210" name="Google Shape;210;p40"/>
          <p:cNvSpPr txBox="1"/>
          <p:nvPr>
            <p:ph idx="3" type="body"/>
          </p:nvPr>
        </p:nvSpPr>
        <p:spPr>
          <a:xfrm>
            <a:off x="457200" y="3410675"/>
            <a:ext cx="8229600" cy="11631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40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Template 16x9">
  <a:themeElements>
    <a:clrScheme name="White">
      <a:dk1>
        <a:srgbClr val="2E3D49"/>
      </a:dk1>
      <a:lt1>
        <a:srgbClr val="7D97AD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